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D2BAAA-C433-4144-AA68-1CE43652DCA0}" v="74" dt="2023-05-28T14:44:10.455"/>
    <p1510:client id="{3E66F8BE-17FC-7005-448A-C4E88F289B36}" v="514" dt="2023-05-28T15:20:18.269"/>
    <p1510:client id="{C713F7CC-17B4-D118-AE42-69F3EDCFBB41}" v="204" dt="2023-05-28T14:53:57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859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178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5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324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18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410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15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88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29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25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246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52135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64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25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501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609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009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6633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1632858" y="66448"/>
            <a:ext cx="9144000" cy="1429658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tr-TR" sz="7200" err="1">
                <a:solidFill>
                  <a:srgbClr val="FF0000"/>
                </a:solidFill>
                <a:ea typeface="Calibri Light"/>
                <a:cs typeface="Calibri Light"/>
              </a:rPr>
              <a:t>FitPlan</a:t>
            </a:r>
            <a:r>
              <a:rPr lang="tr-TR" sz="7200" dirty="0">
                <a:solidFill>
                  <a:srgbClr val="FF0000"/>
                </a:solidFill>
                <a:ea typeface="Calibri Light"/>
                <a:cs typeface="Calibri Light"/>
              </a:rPr>
              <a:t> Uygulaması</a:t>
            </a:r>
            <a:endParaRPr lang="tr-TR" sz="7200" dirty="0">
              <a:solidFill>
                <a:srgbClr val="FF0000"/>
              </a:solidFill>
            </a:endParaRPr>
          </a:p>
        </p:txBody>
      </p:sp>
      <p:pic>
        <p:nvPicPr>
          <p:cNvPr id="4" name="Resim 4" descr="çim, ağaç, dış mekan, tarla, arazi, saha içeren bir resim">
            <a:extLst>
              <a:ext uri="{FF2B5EF4-FFF2-40B4-BE49-F238E27FC236}">
                <a16:creationId xmlns:a16="http://schemas.microsoft.com/office/drawing/2014/main" id="{EA53A19E-6038-70B0-B9F5-33086D5FE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741" y="1489948"/>
            <a:ext cx="6074228" cy="388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595F03A-76A6-5F1B-998E-F7E3DDCFA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021" y="181882"/>
            <a:ext cx="10515600" cy="3074184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tr-TR" sz="2400" b="1" dirty="0">
                <a:ea typeface="Calibri"/>
                <a:cs typeface="Calibri"/>
              </a:rPr>
              <a:t>      İnsanlar sürekli kalori hesabı yapmadan ve de yağlı, şekerli hesabı yapmadan sürekli yemek yiyorlar ve bunun sonucunda</a:t>
            </a:r>
          </a:p>
          <a:p>
            <a:pPr marL="0" indent="0">
              <a:buNone/>
            </a:pPr>
            <a:r>
              <a:rPr lang="tr-TR" sz="2400" b="1" dirty="0">
                <a:ea typeface="Calibri"/>
                <a:cs typeface="Calibri"/>
              </a:rPr>
              <a:t>dengesiz bir hayat stilini ve kötü bir sağlığı beraberinde getiriyor.</a:t>
            </a:r>
            <a:endParaRPr lang="tr-TR" sz="2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tr-TR" sz="2400" b="1" dirty="0">
                <a:ea typeface="Calibri"/>
                <a:cs typeface="Calibri"/>
              </a:rPr>
              <a:t>Özellikle ülkemizdeki insanlar </a:t>
            </a:r>
            <a:r>
              <a:rPr lang="tr-TR" sz="2400" b="1" err="1">
                <a:ea typeface="Calibri"/>
                <a:cs typeface="Calibri"/>
              </a:rPr>
              <a:t>obezlik</a:t>
            </a:r>
            <a:r>
              <a:rPr lang="tr-TR" sz="2400" b="1" dirty="0">
                <a:ea typeface="Calibri"/>
                <a:cs typeface="Calibri"/>
              </a:rPr>
              <a:t> oranlarında çok üst bir seviyede.</a:t>
            </a:r>
            <a:endParaRPr lang="tr-TR" sz="2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tr-TR" sz="2400" b="1" dirty="0">
                <a:ea typeface="Calibri"/>
                <a:cs typeface="Calibri"/>
              </a:rPr>
              <a:t> Literatürde fit kalmamız gerekiyor ama çoğumuz tam tersini yapıp hayatımızı zehir ediyoruz ve bütün sebebi de geçici tatlar  yüzünden. </a:t>
            </a:r>
            <a:endParaRPr lang="tr-TR" sz="2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tr-TR" sz="2400" b="1" dirty="0">
                <a:ea typeface="Calibri"/>
                <a:cs typeface="Calibri"/>
              </a:rPr>
              <a:t>Bunlar değerlendirildiğinde tabii ki fit olmamız bizim için en gerekli olanıdır.</a:t>
            </a:r>
            <a:endParaRPr lang="tr-TR" sz="2400" dirty="0">
              <a:ea typeface="Calibri" panose="020F0502020204030204"/>
              <a:cs typeface="Calibri" panose="020F0502020204030204"/>
            </a:endParaRPr>
          </a:p>
          <a:p>
            <a:endParaRPr lang="tr-TR" dirty="0">
              <a:ea typeface="Calibri"/>
              <a:cs typeface="Calibri"/>
            </a:endParaRPr>
          </a:p>
        </p:txBody>
      </p:sp>
      <p:pic>
        <p:nvPicPr>
          <p:cNvPr id="4" name="Resim 4" descr="kişi, şahıs, duvar, iç mekan, ayakta durma içeren bir resim&#10;&#10;Açıklama otomatik olarak oluşturuldu">
            <a:extLst>
              <a:ext uri="{FF2B5EF4-FFF2-40B4-BE49-F238E27FC236}">
                <a16:creationId xmlns:a16="http://schemas.microsoft.com/office/drawing/2014/main" id="{B1F6BA81-9FE8-D5A2-3270-55914F35F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3731246"/>
            <a:ext cx="4332514" cy="271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6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13C51C1-3C89-728F-A117-E4AC0A60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7483" y="518032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tr-TR" sz="2400" b="1" dirty="0">
                <a:solidFill>
                  <a:srgbClr val="000000"/>
                </a:solidFill>
                <a:latin typeface="Calibri"/>
                <a:cs typeface="Calibri"/>
              </a:rPr>
              <a:t>        </a:t>
            </a:r>
            <a:r>
              <a:rPr lang="tr-TR" sz="2400" b="1" dirty="0">
                <a:latin typeface="Calibri"/>
                <a:cs typeface="Calibri"/>
              </a:rPr>
              <a:t>Araştırmalar gösteriyor ki fit kalmak şişman olmaya göre</a:t>
            </a:r>
            <a:endParaRPr lang="tr-TR" sz="2400">
              <a:latin typeface="Calibri"/>
              <a:cs typeface="Calibri"/>
            </a:endParaRPr>
          </a:p>
          <a:p>
            <a:pPr>
              <a:buNone/>
            </a:pPr>
            <a:r>
              <a:rPr lang="tr-TR" sz="2400" b="1" dirty="0">
                <a:latin typeface="Calibri"/>
                <a:cs typeface="Calibri"/>
              </a:rPr>
              <a:t>çok daha az kansere yakalanmak, daha az çeşitli enfeksiyon</a:t>
            </a:r>
            <a:endParaRPr lang="tr-TR" sz="2400">
              <a:latin typeface="Century Gothic" panose="020B0502020202020204"/>
              <a:cs typeface="Calibri"/>
            </a:endParaRPr>
          </a:p>
          <a:p>
            <a:pPr>
              <a:buNone/>
            </a:pPr>
            <a:r>
              <a:rPr lang="tr-TR" sz="2400" b="1" dirty="0">
                <a:latin typeface="Calibri"/>
                <a:cs typeface="Calibri"/>
              </a:rPr>
              <a:t>hastalıklarına yakalanmak,  daha fazla hissiyatlı ve enerjik yaşamayı</a:t>
            </a:r>
            <a:endParaRPr lang="tr-TR" sz="2400">
              <a:latin typeface="Century Gothic" panose="020B0502020202020204"/>
              <a:cs typeface="Calibri"/>
            </a:endParaRPr>
          </a:p>
          <a:p>
            <a:pPr>
              <a:buNone/>
            </a:pPr>
            <a:r>
              <a:rPr lang="tr-TR" sz="2400" b="1" dirty="0">
                <a:latin typeface="Calibri"/>
                <a:cs typeface="Calibri"/>
              </a:rPr>
              <a:t>beraberinde getiriyor. Ben de bu duruma engel olmak açısından </a:t>
            </a:r>
            <a:endParaRPr lang="tr-TR" sz="2400" dirty="0"/>
          </a:p>
          <a:p>
            <a:pPr>
              <a:buNone/>
            </a:pPr>
            <a:r>
              <a:rPr lang="tr-TR" sz="2400" b="1" dirty="0">
                <a:solidFill>
                  <a:srgbClr val="FFFFFF"/>
                </a:solidFill>
                <a:latin typeface="Calibri"/>
                <a:cs typeface="Calibri"/>
              </a:rPr>
              <a:t>ufak da olsa yardımım dokunsun istedim ve </a:t>
            </a:r>
            <a:r>
              <a:rPr lang="tr-TR" sz="2400" b="1" dirty="0" err="1">
                <a:solidFill>
                  <a:srgbClr val="FFFFFF"/>
                </a:solidFill>
                <a:latin typeface="Calibri"/>
                <a:cs typeface="Calibri"/>
              </a:rPr>
              <a:t>FitPlan</a:t>
            </a:r>
            <a:r>
              <a:rPr lang="tr-TR" sz="2400" b="1" dirty="0">
                <a:solidFill>
                  <a:srgbClr val="FFFFFF"/>
                </a:solidFill>
                <a:latin typeface="Calibri"/>
                <a:cs typeface="Calibri"/>
              </a:rPr>
              <a:t> diye </a:t>
            </a:r>
            <a:r>
              <a:rPr lang="tr-TR" sz="2400" b="1" dirty="0" err="1">
                <a:solidFill>
                  <a:srgbClr val="FFFFFF"/>
                </a:solidFill>
                <a:latin typeface="Calibri"/>
                <a:cs typeface="Calibri"/>
              </a:rPr>
              <a:t>website</a:t>
            </a:r>
            <a:endParaRPr lang="tr-TR" sz="2400" b="1" dirty="0">
              <a:solidFill>
                <a:srgbClr val="FFFFFF"/>
              </a:solidFill>
              <a:latin typeface="Calibri"/>
              <a:cs typeface="Calibri"/>
            </a:endParaRPr>
          </a:p>
          <a:p>
            <a:pPr>
              <a:buNone/>
            </a:pPr>
            <a:r>
              <a:rPr lang="tr-TR" sz="2400" b="1" dirty="0">
                <a:solidFill>
                  <a:srgbClr val="FFFFFF"/>
                </a:solidFill>
                <a:latin typeface="Calibri"/>
                <a:cs typeface="Calibri"/>
              </a:rPr>
              <a:t>yapmaya karar verdim.</a:t>
            </a:r>
          </a:p>
          <a:p>
            <a:pPr marL="0" indent="0">
              <a:buNone/>
            </a:pPr>
            <a:endParaRPr lang="tr-TR" dirty="0">
              <a:solidFill>
                <a:srgbClr val="FFFFFF"/>
              </a:solidFill>
              <a:latin typeface="Century Gothic" panose="020B0502020202020204"/>
              <a:cs typeface="Calibri"/>
            </a:endParaRPr>
          </a:p>
        </p:txBody>
      </p:sp>
      <p:pic>
        <p:nvPicPr>
          <p:cNvPr id="4" name="Resim 4" descr="harita içeren bir resim&#10;&#10;Açıklama otomatik olarak oluşturuldu">
            <a:extLst>
              <a:ext uri="{FF2B5EF4-FFF2-40B4-BE49-F238E27FC236}">
                <a16:creationId xmlns:a16="http://schemas.microsoft.com/office/drawing/2014/main" id="{641D96C3-BEBE-7C51-2373-742B15F38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799" y="3560989"/>
            <a:ext cx="3544660" cy="265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75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83E1131-32C0-204D-166B-14E3544E7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    </a:t>
            </a:r>
            <a:r>
              <a:rPr lang="tr-TR" dirty="0">
                <a:solidFill>
                  <a:srgbClr val="FF0000"/>
                </a:solidFill>
              </a:rPr>
              <a:t>Peki İdeal Vücut Yağ Oranı Nedir 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A587064-0DA3-AC2C-CB43-C8EB80592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715461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tr-TR" dirty="0">
                <a:solidFill>
                  <a:srgbClr val="000000"/>
                </a:solidFill>
              </a:rPr>
              <a:t>İdeal vücut yağ oranı, cinsiyet, ve bireysel faktörlere bağlı </a:t>
            </a:r>
            <a:endParaRPr lang="tr-TR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tr-TR" dirty="0">
                <a:solidFill>
                  <a:srgbClr val="000000"/>
                </a:solidFill>
              </a:rPr>
              <a:t>olarak değişebilir.</a:t>
            </a:r>
            <a:endParaRPr lang="tr-TR" dirty="0"/>
          </a:p>
          <a:p>
            <a:pPr algn="ctr">
              <a:buNone/>
            </a:pPr>
            <a:r>
              <a:rPr lang="tr-TR" dirty="0">
                <a:solidFill>
                  <a:srgbClr val="000000"/>
                </a:solidFill>
              </a:rPr>
              <a:t>Ancak genel olarak kabul edilen sağlıklı bir vücut yağ oranı </a:t>
            </a:r>
            <a:endParaRPr lang="tr-TR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tr-TR" dirty="0">
                <a:solidFill>
                  <a:srgbClr val="000000"/>
                </a:solidFill>
              </a:rPr>
              <a:t>aralığı vardır.</a:t>
            </a:r>
            <a:endParaRPr lang="tr-TR" dirty="0"/>
          </a:p>
          <a:p>
            <a:pPr algn="ctr">
              <a:buNone/>
            </a:pPr>
            <a:r>
              <a:rPr lang="tr-TR" dirty="0">
                <a:solidFill>
                  <a:srgbClr val="000000"/>
                </a:solidFill>
              </a:rPr>
              <a:t>Yaş faktörü de önemlidir çünkü vücut kompozisyonu yaşla </a:t>
            </a:r>
            <a:endParaRPr lang="tr-TR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tr-TR" dirty="0">
                <a:solidFill>
                  <a:srgbClr val="000000"/>
                </a:solidFill>
              </a:rPr>
              <a:t>birlikte değişebilir.</a:t>
            </a:r>
            <a:endParaRPr lang="tr-TR" dirty="0"/>
          </a:p>
          <a:p>
            <a:pPr algn="ctr">
              <a:buNone/>
            </a:pPr>
            <a:r>
              <a:rPr lang="tr-TR" dirty="0">
                <a:solidFill>
                  <a:srgbClr val="000000"/>
                </a:solidFill>
              </a:rPr>
              <a:t>Yaşlandıkça kas kütlesi azalabilir ve yağ miktarı artabilir.</a:t>
            </a:r>
            <a:endParaRPr lang="tr-TR" dirty="0"/>
          </a:p>
          <a:p>
            <a:pPr algn="ctr">
              <a:buNone/>
            </a:pPr>
            <a:r>
              <a:rPr lang="tr-TR" dirty="0">
                <a:solidFill>
                  <a:srgbClr val="000000"/>
                </a:solidFill>
              </a:rPr>
              <a:t>Bu nedenle yaşa bağlı olarak ideal vücut yağ oranları da biraz </a:t>
            </a:r>
            <a:endParaRPr lang="tr-TR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tr-TR" dirty="0">
                <a:solidFill>
                  <a:srgbClr val="000000"/>
                </a:solidFill>
              </a:rPr>
              <a:t>farklılık gösterebilir.</a:t>
            </a:r>
            <a:endParaRPr lang="tr-TR" dirty="0"/>
          </a:p>
          <a:p>
            <a:pPr marL="0" indent="0" algn="ctr">
              <a:buNone/>
            </a:pPr>
            <a:endParaRPr lang="tr-TR" dirty="0">
              <a:solidFill>
                <a:srgbClr val="000000"/>
              </a:solidFill>
            </a:endParaRPr>
          </a:p>
          <a:p>
            <a:pPr>
              <a:buClr>
                <a:srgbClr val="8AD0D6"/>
              </a:buClr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94899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id="{1D9ABA19-9DCF-1F84-AC80-F57CD0F56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68" y="3859947"/>
            <a:ext cx="10623922" cy="3653872"/>
          </a:xfrm>
        </p:spPr>
        <p:txBody>
          <a:bodyPr/>
          <a:lstStyle/>
          <a:p>
            <a:r>
              <a:rPr lang="tr-TR" sz="3200" dirty="0"/>
              <a:t>Vücut yağ oranı örnekleri görselde de görüldüğü gibi ilki esansiyel, ikinci ve üçüncüsü sporcu, dördüncüsü fit, beşincisi kilolu ve sonuncusu obezi içermektedir.</a:t>
            </a:r>
          </a:p>
        </p:txBody>
      </p:sp>
      <p:pic>
        <p:nvPicPr>
          <p:cNvPr id="4" name="Resim 4" descr="metin, giyim, don, külot içeren bir resim&#10;&#10;Açıklama otomatik olarak oluşturuldu">
            <a:extLst>
              <a:ext uri="{FF2B5EF4-FFF2-40B4-BE49-F238E27FC236}">
                <a16:creationId xmlns:a16="http://schemas.microsoft.com/office/drawing/2014/main" id="{C055E27A-382C-99A2-BB3D-110CE3BB50E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125686" y="60099"/>
            <a:ext cx="3608841" cy="3597954"/>
          </a:xfrm>
        </p:spPr>
      </p:pic>
    </p:spTree>
    <p:extLst>
      <p:ext uri="{BB962C8B-B14F-4D97-AF65-F5344CB8AC3E}">
        <p14:creationId xmlns:p14="http://schemas.microsoft.com/office/powerpoint/2010/main" val="61289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CB7AEAE-D21E-6FA3-4B0E-44EA58C88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     </a:t>
            </a:r>
            <a:r>
              <a:rPr lang="tr-TR" dirty="0">
                <a:solidFill>
                  <a:srgbClr val="FF0000"/>
                </a:solidFill>
              </a:rPr>
              <a:t>İdeal Yağ Oranına Nasıl Ulaşırız</a:t>
            </a:r>
            <a:r>
              <a:rPr lang="tr-TR" dirty="0"/>
              <a:t> ? </a:t>
            </a:r>
          </a:p>
        </p:txBody>
      </p:sp>
      <p:pic>
        <p:nvPicPr>
          <p:cNvPr id="4" name="Resim 4" descr="kişi, şahıs, giyim, duvar, giyinik içeren bir resim&#10;&#10;Açıklama otomatik olarak oluşturuldu">
            <a:extLst>
              <a:ext uri="{FF2B5EF4-FFF2-40B4-BE49-F238E27FC236}">
                <a16:creationId xmlns:a16="http://schemas.microsoft.com/office/drawing/2014/main" id="{175D07E7-3772-714F-EF2E-D0C60DEE4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0142" y="2012977"/>
            <a:ext cx="3295650" cy="3001735"/>
          </a:xfrm>
        </p:spPr>
      </p:pic>
    </p:spTree>
    <p:extLst>
      <p:ext uri="{BB962C8B-B14F-4D97-AF65-F5344CB8AC3E}">
        <p14:creationId xmlns:p14="http://schemas.microsoft.com/office/powerpoint/2010/main" val="3343306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EC6B0E-2F16-27DE-0E57-B0CEA37E2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>
                <a:solidFill>
                  <a:srgbClr val="FF0000"/>
                </a:solidFill>
              </a:rPr>
              <a:t>İzlenmesi Gereken Adımlar:</a:t>
            </a:r>
          </a:p>
          <a:p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8A88242-E6A3-7A7D-D319-63A9AF367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/>
            <a:r>
              <a:rPr lang="tr-TR" dirty="0"/>
              <a:t>Dengeli ve düzenli beslenmek.</a:t>
            </a:r>
          </a:p>
          <a:p>
            <a:pPr algn="ctr">
              <a:buClr>
                <a:srgbClr val="8AD0D6"/>
              </a:buClr>
            </a:pPr>
            <a:r>
              <a:rPr lang="tr-TR" dirty="0"/>
              <a:t>Kalori dengesini sağlamak.</a:t>
            </a:r>
          </a:p>
          <a:p>
            <a:pPr algn="ctr">
              <a:buClr>
                <a:srgbClr val="8AD0D6"/>
              </a:buClr>
            </a:pPr>
            <a:r>
              <a:rPr lang="tr-TR" dirty="0"/>
              <a:t>Egzersiz yapmak.</a:t>
            </a:r>
          </a:p>
          <a:p>
            <a:pPr algn="ctr">
              <a:buClr>
                <a:srgbClr val="8AD0D6"/>
              </a:buClr>
            </a:pPr>
            <a:r>
              <a:rPr lang="tr-TR" dirty="0"/>
              <a:t>Antrenman yapmak.</a:t>
            </a:r>
          </a:p>
          <a:p>
            <a:pPr algn="ctr">
              <a:buClr>
                <a:srgbClr val="8AD0D6"/>
              </a:buClr>
            </a:pPr>
            <a:r>
              <a:rPr lang="tr-TR" dirty="0"/>
              <a:t>Günde 2 litreden fazla su içmek.</a:t>
            </a:r>
          </a:p>
          <a:p>
            <a:pPr algn="ctr">
              <a:buClr>
                <a:srgbClr val="8AD0D6"/>
              </a:buClr>
            </a:pPr>
            <a:r>
              <a:rPr lang="tr-TR" dirty="0"/>
              <a:t>Düzenli ve yeterli uyku uyumak.</a:t>
            </a:r>
          </a:p>
          <a:p>
            <a:pPr algn="ctr">
              <a:buClr>
                <a:srgbClr val="8AD0D6"/>
              </a:buClr>
            </a:pPr>
            <a:r>
              <a:rPr lang="tr-TR" dirty="0"/>
              <a:t>Ve tabii ki de sabırlı olmak</a:t>
            </a:r>
            <a:r>
              <a:rPr lang="tr-TR" dirty="0">
                <a:solidFill>
                  <a:srgbClr val="000000"/>
                </a:solidFill>
              </a:rPr>
              <a:t>.</a:t>
            </a:r>
            <a:endParaRPr lang="tr-TR" dirty="0"/>
          </a:p>
          <a:p>
            <a:pPr>
              <a:buClr>
                <a:srgbClr val="8AD0D6"/>
              </a:buClr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646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F06C6D-45FA-47BF-F9A6-C1D79DC3B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682" y="485375"/>
            <a:ext cx="9404723" cy="1400530"/>
          </a:xfrm>
        </p:spPr>
        <p:txBody>
          <a:bodyPr/>
          <a:lstStyle/>
          <a:p>
            <a:r>
              <a:rPr lang="tr-TR" dirty="0"/>
              <a:t>          </a:t>
            </a:r>
            <a:r>
              <a:rPr lang="tr-TR" dirty="0">
                <a:solidFill>
                  <a:srgbClr val="FF0000"/>
                </a:solidFill>
              </a:rPr>
              <a:t>Yağ Oranı Hesaplama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301AA19-6C27-8D62-FD8E-FF9C4090F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tr-TR" dirty="0"/>
              <a:t>Evde vücut yağ oranı takibini yapmanın kolay bir yolunu arıyorsanız,</a:t>
            </a:r>
          </a:p>
          <a:p>
            <a:pPr algn="ctr">
              <a:buNone/>
            </a:pPr>
            <a:r>
              <a:rPr lang="tr-TR" dirty="0"/>
              <a:t>vücut çevresi ölçümlerinize bağlı olarak yağ oranınızı öğrenebilirsiniz.</a:t>
            </a:r>
          </a:p>
          <a:p>
            <a:pPr algn="ctr">
              <a:buNone/>
            </a:pPr>
            <a:r>
              <a:rPr lang="tr-TR" dirty="0"/>
              <a:t>Ölçüm için maliyetli makineler almak yerine, Amerikan Diyabet </a:t>
            </a:r>
          </a:p>
          <a:p>
            <a:pPr algn="ctr">
              <a:buNone/>
            </a:pPr>
            <a:r>
              <a:rPr lang="tr-TR" dirty="0"/>
              <a:t>Derneği tarafından da</a:t>
            </a:r>
          </a:p>
          <a:p>
            <a:pPr algn="ctr">
              <a:buNone/>
            </a:pPr>
            <a:r>
              <a:rPr lang="tr-TR" dirty="0"/>
              <a:t>doğrulanan vücut yağ oranı formülünü uygulayarak kendi vücut </a:t>
            </a:r>
          </a:p>
          <a:p>
            <a:pPr algn="ctr">
              <a:buNone/>
            </a:pPr>
            <a:r>
              <a:rPr lang="tr-TR" dirty="0"/>
              <a:t>yağı takibinizi sağlayabilirsiniz.</a:t>
            </a:r>
          </a:p>
          <a:p>
            <a:pPr algn="ctr">
              <a:buNone/>
            </a:pPr>
            <a:endParaRPr lang="tr-TR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00296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543FD8-52B4-1655-434C-C68DC025D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b="1" dirty="0">
                <a:solidFill>
                  <a:srgbClr val="000000"/>
                </a:solidFill>
                <a:ea typeface="+mj-lt"/>
                <a:cs typeface="+mj-lt"/>
              </a:rPr>
              <a:t>   </a:t>
            </a:r>
            <a:r>
              <a:rPr lang="tr-TR" sz="3200" b="1" dirty="0">
                <a:solidFill>
                  <a:srgbClr val="FFC000"/>
                </a:solidFill>
                <a:ea typeface="+mj-lt"/>
                <a:cs typeface="+mj-lt"/>
              </a:rPr>
              <a:t>Bunu yapmak için şu bilgilere ihtiyacınız var:</a:t>
            </a:r>
            <a:endParaRPr lang="tr-TR" sz="3200">
              <a:solidFill>
                <a:srgbClr val="FFC000"/>
              </a:solidFill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0D0084C-D63D-03E0-C768-C92933598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/>
            <a:r>
              <a:rPr lang="tr-TR" sz="2400" b="1" dirty="0">
                <a:solidFill>
                  <a:srgbClr val="FF0000"/>
                </a:solidFill>
                <a:ea typeface="+mj-lt"/>
                <a:cs typeface="+mj-lt"/>
              </a:rPr>
              <a:t>Cinsiyet</a:t>
            </a:r>
            <a:endParaRPr lang="tr-TR" sz="2400">
              <a:solidFill>
                <a:srgbClr val="FF0000"/>
              </a:solidFill>
            </a:endParaRPr>
          </a:p>
          <a:p>
            <a:pPr algn="ctr">
              <a:buClr>
                <a:srgbClr val="8AD0D6"/>
              </a:buClr>
            </a:pPr>
            <a:r>
              <a:rPr lang="tr-TR" sz="2400" b="1" dirty="0">
                <a:solidFill>
                  <a:srgbClr val="FF0000"/>
                </a:solidFill>
                <a:ea typeface="+mj-lt"/>
                <a:cs typeface="+mj-lt"/>
              </a:rPr>
              <a:t>Bel(Göbek Deliği Kısmından)(cm)</a:t>
            </a:r>
            <a:endParaRPr lang="tr-TR" sz="2400">
              <a:solidFill>
                <a:srgbClr val="FF0000"/>
              </a:solidFill>
            </a:endParaRPr>
          </a:p>
          <a:p>
            <a:pPr algn="ctr">
              <a:buClr>
                <a:srgbClr val="8AD0D6"/>
              </a:buClr>
            </a:pPr>
            <a:r>
              <a:rPr lang="tr-TR" sz="2400" b="1" dirty="0">
                <a:solidFill>
                  <a:srgbClr val="FF0000"/>
                </a:solidFill>
                <a:ea typeface="+mj-lt"/>
                <a:cs typeface="+mj-lt"/>
              </a:rPr>
              <a:t>Boyun(Adem Elması Kısmından)(cm)</a:t>
            </a:r>
            <a:endParaRPr lang="tr-TR" sz="2400">
              <a:solidFill>
                <a:srgbClr val="FF0000"/>
              </a:solidFill>
            </a:endParaRPr>
          </a:p>
          <a:p>
            <a:pPr algn="ctr">
              <a:buClr>
                <a:srgbClr val="8AD0D6"/>
              </a:buClr>
            </a:pPr>
            <a:r>
              <a:rPr lang="tr-TR" sz="2400" b="1" dirty="0">
                <a:solidFill>
                  <a:srgbClr val="FF0000"/>
                </a:solidFill>
                <a:ea typeface="+mj-lt"/>
                <a:cs typeface="+mj-lt"/>
              </a:rPr>
              <a:t>Boy(cm)</a:t>
            </a:r>
            <a:endParaRPr lang="tr-TR" sz="2400">
              <a:solidFill>
                <a:srgbClr val="FF0000"/>
              </a:solidFill>
            </a:endParaRPr>
          </a:p>
          <a:p>
            <a:pPr algn="ctr">
              <a:buClr>
                <a:srgbClr val="8AD0D6"/>
              </a:buClr>
            </a:pPr>
            <a:r>
              <a:rPr lang="tr-TR" sz="2400" b="1" dirty="0">
                <a:solidFill>
                  <a:srgbClr val="FF0000"/>
                </a:solidFill>
                <a:ea typeface="+mj-lt"/>
                <a:cs typeface="+mj-lt"/>
              </a:rPr>
              <a:t>Kadınlar için ayrı olarak da Kalça Çevresi(cm)</a:t>
            </a:r>
            <a:endParaRPr lang="tr-TR" sz="2400">
              <a:solidFill>
                <a:srgbClr val="FF0000"/>
              </a:solidFill>
            </a:endParaRPr>
          </a:p>
          <a:p>
            <a:pPr>
              <a:buClr>
                <a:srgbClr val="8AD0D6"/>
              </a:buClr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46616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87C56BF-810F-45C9-37B5-E6834F819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226" y="311203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dirty="0">
                <a:solidFill>
                  <a:schemeClr val="bg1">
                    <a:lumMod val="95000"/>
                    <a:lumOff val="5000"/>
                  </a:schemeClr>
                </a:solidFill>
              </a:rPr>
              <a:t>Bu değerler doğru olarak bulunup sitede bulunan boşluklara girildiği</a:t>
            </a:r>
          </a:p>
          <a:p>
            <a:pPr marL="0" indent="0">
              <a:buNone/>
            </a:pPr>
            <a:r>
              <a:rPr lang="tr-TR" dirty="0">
                <a:solidFill>
                  <a:schemeClr val="bg1">
                    <a:lumMod val="95000"/>
                    <a:lumOff val="5000"/>
                  </a:schemeClr>
                </a:solidFill>
              </a:rPr>
              <a:t>zaman yapmış olduğum hesap makinesi size maksimum %3 hata payı ile doğruya en yakın sonucu verecektir. Verdiği sonuç genel olarak</a:t>
            </a:r>
          </a:p>
          <a:p>
            <a:pPr marL="0" indent="0">
              <a:buNone/>
            </a:pPr>
            <a:r>
              <a:rPr lang="tr-TR" dirty="0">
                <a:solidFill>
                  <a:schemeClr val="bg1">
                    <a:lumMod val="95000"/>
                    <a:lumOff val="5000"/>
                  </a:schemeClr>
                </a:solidFill>
              </a:rPr>
              <a:t>doğru bir sonuçtur. Ayrı olarak da sitede yağ oranını öğrendikten sonra </a:t>
            </a:r>
          </a:p>
          <a:p>
            <a:pPr marL="0" indent="0">
              <a:buNone/>
            </a:pPr>
            <a:r>
              <a:rPr lang="tr-TR" dirty="0">
                <a:solidFill>
                  <a:schemeClr val="bg1">
                    <a:lumMod val="95000"/>
                    <a:lumOff val="5000"/>
                  </a:schemeClr>
                </a:solidFill>
              </a:rPr>
              <a:t>Beslenme programları var. İsteyen istediğini alabilir, kilo almak isteyen birini, vermek isteyen de diğerini alabilir.</a:t>
            </a:r>
          </a:p>
        </p:txBody>
      </p:sp>
      <p:pic>
        <p:nvPicPr>
          <p:cNvPr id="4" name="Resim 4" descr="giyim, kişi, şahıs, don, külot içeren bir resim&#10;&#10;Açıklama otomatik olarak oluşturuldu">
            <a:extLst>
              <a:ext uri="{FF2B5EF4-FFF2-40B4-BE49-F238E27FC236}">
                <a16:creationId xmlns:a16="http://schemas.microsoft.com/office/drawing/2014/main" id="{C3CB6569-96DB-858C-2D53-48C4798CD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049" y="2869746"/>
            <a:ext cx="4235903" cy="290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0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4091B03-A252-984A-FCCB-A3A9373B4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341" y="561575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sz="2800" b="1" dirty="0">
                <a:latin typeface="Calibri"/>
                <a:ea typeface="Segoe UI"/>
                <a:cs typeface="Segoe UI"/>
              </a:rPr>
              <a:t>     </a:t>
            </a:r>
            <a:r>
              <a:rPr lang="tr-TR" sz="2800" b="1" dirty="0">
                <a:solidFill>
                  <a:srgbClr val="FFFF00"/>
                </a:solidFill>
                <a:latin typeface="Calibri"/>
                <a:ea typeface="Segoe UI"/>
                <a:cs typeface="Segoe UI"/>
              </a:rPr>
              <a:t>Bu araştırma ve uygulama sonucunda bireyin fit bir görüntüye </a:t>
            </a:r>
            <a:r>
              <a:rPr lang="tr-TR" sz="28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tr-TR" sz="2800" b="1" dirty="0">
                <a:solidFill>
                  <a:srgbClr val="FFFF00"/>
                </a:solidFill>
                <a:latin typeface="Calibri"/>
                <a:ea typeface="Segoe UI"/>
                <a:cs typeface="Segoe UI"/>
              </a:rPr>
              <a:t>dolayısıyla sağlıklı ve yaşam standartlarının üstünde bir hayat yaşaması sağlanılacak.</a:t>
            </a:r>
            <a:r>
              <a:rPr lang="tr-TR" sz="2800" dirty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 </a:t>
            </a:r>
            <a:endParaRPr lang="tr-TR" sz="2800" dirty="0">
              <a:solidFill>
                <a:srgbClr val="FFFF00"/>
              </a:solidFill>
              <a:latin typeface="Century Gothic" panose="020B0502020202020204"/>
              <a:ea typeface="Calibri"/>
              <a:cs typeface="Calibri"/>
            </a:endParaRPr>
          </a:p>
          <a:p>
            <a:pPr marL="0" indent="0">
              <a:buNone/>
            </a:pPr>
            <a:endParaRPr lang="tr-TR" sz="1600" b="1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pic>
        <p:nvPicPr>
          <p:cNvPr id="4" name="Resim 4" descr="çim, dış mekan, gökyüzü, tarla, arazi, saha içeren bir resim&#10;&#10;Açıklama otomatik olarak oluşturuldu">
            <a:extLst>
              <a:ext uri="{FF2B5EF4-FFF2-40B4-BE49-F238E27FC236}">
                <a16:creationId xmlns:a16="http://schemas.microsoft.com/office/drawing/2014/main" id="{FA9B99F3-6CA6-91ED-F9B1-A12114731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3" y="2237014"/>
            <a:ext cx="4484914" cy="336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42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E24109-E133-023C-A9A2-3EA61A86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768" y="768404"/>
            <a:ext cx="9404723" cy="3370844"/>
          </a:xfrm>
        </p:spPr>
        <p:txBody>
          <a:bodyPr/>
          <a:lstStyle/>
          <a:p>
            <a:r>
              <a:rPr lang="tr-TR" sz="3200" dirty="0">
                <a:solidFill>
                  <a:srgbClr val="FF0000"/>
                </a:solidFill>
              </a:rPr>
              <a:t>DİNLEDİĞİNİZ VE İZLEDİĞİNİZ İÇİN TEŞEKKÜRLER, SAĞLIKLI VE FİT GÜNLER DİLERİZ.</a:t>
            </a:r>
          </a:p>
        </p:txBody>
      </p:sp>
      <p:pic>
        <p:nvPicPr>
          <p:cNvPr id="4" name="Resim 4" descr="çim, su, doğa, arazi içeren bir resim&#10;&#10;Açıklama otomatik olarak oluşturuldu">
            <a:extLst>
              <a:ext uri="{FF2B5EF4-FFF2-40B4-BE49-F238E27FC236}">
                <a16:creationId xmlns:a16="http://schemas.microsoft.com/office/drawing/2014/main" id="{5A1C846F-9B42-618D-EFBF-E7B345846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742" y="2492149"/>
            <a:ext cx="4491717" cy="300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398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3" baseType="lpstr">
      <vt:lpstr>Ion</vt:lpstr>
      <vt:lpstr>FitPlan Uygulaması</vt:lpstr>
      <vt:lpstr>PowerPoint Sunusu</vt:lpstr>
      <vt:lpstr>PowerPoint Sunusu</vt:lpstr>
      <vt:lpstr>    Peki İdeal Vücut Yağ Oranı Nedir </vt:lpstr>
      <vt:lpstr>Vücut yağ oranı örnekleri görselde de görüldüğü gibi ilki esansiyel, ikinci ve üçüncüsü sporcu, dördüncüsü fit, beşincisi kilolu ve sonuncusu obezi içermektedir.</vt:lpstr>
      <vt:lpstr>     İdeal Yağ Oranına Nasıl Ulaşırız ? </vt:lpstr>
      <vt:lpstr>İzlenmesi Gereken Adımlar: </vt:lpstr>
      <vt:lpstr>          Yağ Oranı Hesaplama</vt:lpstr>
      <vt:lpstr>   Bunu yapmak için şu bilgilere ihtiyacınız var:</vt:lpstr>
      <vt:lpstr>PowerPoint Sunusu</vt:lpstr>
      <vt:lpstr>PowerPoint Sunusu</vt:lpstr>
      <vt:lpstr>DİNLEDİĞİNİZ VE İZLEDİĞİNİZ İÇİN TEŞEKKÜRLER, SAĞLIKLI VE FİT GÜNLER DİLERİZ.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/>
  <cp:lastModifiedBy/>
  <cp:revision>216</cp:revision>
  <dcterms:created xsi:type="dcterms:W3CDTF">2023-05-28T14:29:07Z</dcterms:created>
  <dcterms:modified xsi:type="dcterms:W3CDTF">2023-05-28T15:24:49Z</dcterms:modified>
</cp:coreProperties>
</file>